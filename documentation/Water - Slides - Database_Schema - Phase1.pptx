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56" r:id="rId4"/>
    <p:sldId id="257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1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4513-5449-4330-9945-8600930AB41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86FFF-F06A-41F2-ADD3-4796DE91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71FD-F6AF-4F48-9CB1-347F3A8D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D92F1-EE8B-421E-E855-8DD6FD839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98123-8244-1CAF-EA3D-9C4F9251F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core table</a:t>
            </a:r>
            <a:r>
              <a:rPr lang="en-US" dirty="0"/>
              <a:t> sits at the top center, anchoring the schema. Branches extend </a:t>
            </a:r>
            <a:r>
              <a:rPr lang="en-US" b="1" dirty="0"/>
              <a:t>left, center, and right</a:t>
            </a:r>
            <a:r>
              <a:rPr lang="en-US" dirty="0"/>
              <a:t>, reducing vertical depth.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FK chains are </a:t>
            </a:r>
            <a:r>
              <a:rPr lang="en-US" b="1" dirty="0"/>
              <a:t>vertically aligned</a:t>
            </a:r>
            <a:r>
              <a:rPr lang="en-US" dirty="0"/>
              <a:t> for quick scanning.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Related clusters (media → EXIF, indicators → </a:t>
            </a:r>
            <a:r>
              <a:rPr lang="en-US" dirty="0" err="1"/>
              <a:t>water_observation</a:t>
            </a:r>
            <a:r>
              <a:rPr lang="en-US" dirty="0"/>
              <a:t>, governance → location) are visually grouped.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prints cleanly and fits naturally into a Word landscape page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C93EB-F974-AC5E-8E0F-76A1561ED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86FFF-F06A-41F2-ADD3-4796DE9157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67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core table</a:t>
            </a:r>
            <a:r>
              <a:rPr lang="en-US" dirty="0"/>
              <a:t> sits at the top center, anchoring the schema. Branches extend </a:t>
            </a:r>
            <a:r>
              <a:rPr lang="en-US" b="1" dirty="0"/>
              <a:t>left, center, and right</a:t>
            </a:r>
            <a:r>
              <a:rPr lang="en-US" dirty="0"/>
              <a:t>, reducing vertical depth.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FK chains are </a:t>
            </a:r>
            <a:r>
              <a:rPr lang="en-US" b="1" dirty="0"/>
              <a:t>vertically aligned</a:t>
            </a:r>
            <a:r>
              <a:rPr lang="en-US" dirty="0"/>
              <a:t> for quick scanning.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Related clusters (media → EXIF, indicators → </a:t>
            </a:r>
            <a:r>
              <a:rPr lang="en-US" dirty="0" err="1"/>
              <a:t>water_observation</a:t>
            </a:r>
            <a:r>
              <a:rPr lang="en-US" dirty="0"/>
              <a:t>, governance → location) are visually grouped.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prints cleanly and fits naturally into a Word landscape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86FFF-F06A-41F2-ADD3-4796DE9157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1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3B2C-664B-E8B4-0D23-66B784A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5682-E97C-E746-5981-82549C07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Structure - Phase 1: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25761-FD42-82FC-B9C1-73BFFCC8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8363"/>
            <a:ext cx="7508631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100" dirty="0"/>
              <a:t>========================================================================================================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                 </a:t>
            </a:r>
            <a:r>
              <a:rPr lang="en-US" sz="1100" b="1" dirty="0"/>
              <a:t>observations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PK id (UUID, </a:t>
            </a:r>
            <a:r>
              <a:rPr lang="en-US" sz="1100" dirty="0" err="1"/>
              <a:t>observation_UUID</a:t>
            </a:r>
            <a:r>
              <a:rPr lang="en-US" sz="1100" dirty="0"/>
              <a:t>)</a:t>
            </a:r>
          </a:p>
          <a:p>
            <a:pPr marL="0" indent="0">
              <a:buNone/>
            </a:pPr>
            <a:r>
              <a:rPr lang="en-US" sz="1100" dirty="0"/>
              <a:t>========================================================================================================</a:t>
            </a:r>
          </a:p>
          <a:p>
            <a:pPr marL="0" indent="0">
              <a:buNone/>
            </a:pPr>
            <a:r>
              <a:rPr lang="en-US" sz="1100" dirty="0"/>
              <a:t>         	      |                                  	            |                                  		    |                               		        |</a:t>
            </a:r>
          </a:p>
          <a:p>
            <a:pPr marL="0" indent="0">
              <a:buNone/>
            </a:pPr>
            <a:r>
              <a:rPr lang="en-US" sz="1100" dirty="0"/>
              <a:t>        	      |                                  	            |                                 		    |                             		        |</a:t>
            </a:r>
          </a:p>
          <a:p>
            <a:pPr marL="0" indent="0">
              <a:buNone/>
            </a:pPr>
            <a:r>
              <a:rPr lang="en-US" sz="1100" dirty="0"/>
              <a:t>        	      v                                	            v                                 		    v                           		        v</a:t>
            </a:r>
          </a:p>
          <a:p>
            <a:pPr marL="0" indent="0">
              <a:buNone/>
            </a:pPr>
            <a:r>
              <a:rPr lang="en-US" sz="1100" dirty="0"/>
              <a:t>+--------------------------------+     +------------------------------------+     +----------------------------------------+     +-------------------------------+</a:t>
            </a:r>
          </a:p>
          <a:p>
            <a:pPr marL="0" indent="0">
              <a:buNone/>
            </a:pPr>
            <a:r>
              <a:rPr lang="en-US" sz="1100" dirty="0"/>
              <a:t>|  </a:t>
            </a:r>
            <a:r>
              <a:rPr lang="en-US" sz="1100" b="1" dirty="0"/>
              <a:t>media</a:t>
            </a:r>
            <a:r>
              <a:rPr lang="en-US" sz="1100" dirty="0"/>
              <a:t>                             |      |  </a:t>
            </a:r>
            <a:r>
              <a:rPr lang="en-US" sz="1100" b="1" dirty="0" err="1"/>
              <a:t>indicator_decompObs</a:t>
            </a:r>
            <a:r>
              <a:rPr lang="en-US" sz="1100" b="1" dirty="0"/>
              <a:t>      </a:t>
            </a:r>
            <a:r>
              <a:rPr lang="en-US" sz="1100" dirty="0"/>
              <a:t>|      |  </a:t>
            </a:r>
            <a:r>
              <a:rPr lang="en-US" sz="1100" b="1" dirty="0" err="1">
                <a:solidFill>
                  <a:schemeClr val="accent6">
                    <a:lumMod val="75000"/>
                  </a:schemeClr>
                </a:solidFill>
              </a:rPr>
              <a:t>contact_form_submissions</a:t>
            </a: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sz="1100" dirty="0"/>
              <a:t>|      |  </a:t>
            </a:r>
            <a:r>
              <a:rPr lang="en-US" sz="1100" b="1" dirty="0" err="1">
                <a:highlight>
                  <a:srgbClr val="00FFFF"/>
                </a:highlight>
              </a:rPr>
              <a:t>Roles_Governance</a:t>
            </a:r>
            <a:r>
              <a:rPr lang="en-US" sz="1100" b="1" dirty="0"/>
              <a:t>     </a:t>
            </a:r>
            <a:r>
              <a:rPr lang="en-US" sz="1100" dirty="0"/>
              <a:t>|</a:t>
            </a:r>
          </a:p>
          <a:p>
            <a:pPr marL="0" indent="0">
              <a:buNone/>
            </a:pPr>
            <a:r>
              <a:rPr lang="en-US" sz="1100" dirty="0"/>
              <a:t>|  PK </a:t>
            </a:r>
            <a:r>
              <a:rPr lang="en-US" sz="1100" dirty="0">
                <a:highlight>
                  <a:srgbClr val="00FF00"/>
                </a:highlight>
              </a:rPr>
              <a:t>id</a:t>
            </a:r>
            <a:r>
              <a:rPr lang="en-US" sz="1100" dirty="0"/>
              <a:t> (UUID)                  |      |  PK </a:t>
            </a:r>
            <a:r>
              <a:rPr lang="en-US" sz="1100" dirty="0">
                <a:highlight>
                  <a:srgbClr val="00FF00"/>
                </a:highlight>
              </a:rPr>
              <a:t>id</a:t>
            </a:r>
            <a:r>
              <a:rPr lang="en-US" sz="1100" dirty="0"/>
              <a:t> (UUID)                         |      |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PK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highlight>
                  <a:srgbClr val="00FF00"/>
                </a:highlight>
              </a:rPr>
              <a:t>id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(UUID)                              </a:t>
            </a:r>
            <a:r>
              <a:rPr lang="en-US" sz="1100" dirty="0"/>
              <a:t>|      |  PK </a:t>
            </a:r>
            <a:r>
              <a:rPr lang="en-US" sz="1100" dirty="0">
                <a:highlight>
                  <a:srgbClr val="00FF00"/>
                </a:highlight>
              </a:rPr>
              <a:t>id</a:t>
            </a:r>
            <a:r>
              <a:rPr lang="en-US" sz="1100" dirty="0"/>
              <a:t> (UUID)                 |</a:t>
            </a:r>
          </a:p>
          <a:p>
            <a:pPr marL="0" indent="0">
              <a:buNone/>
            </a:pPr>
            <a:r>
              <a:rPr lang="en-US" sz="1100" dirty="0"/>
              <a:t>|  FK </a:t>
            </a:r>
            <a:r>
              <a:rPr lang="en-US" sz="1100" dirty="0" err="1">
                <a:highlight>
                  <a:srgbClr val="FFFF00"/>
                </a:highlight>
              </a:rPr>
              <a:t>observation</a:t>
            </a:r>
            <a:r>
              <a:rPr lang="en-US" sz="1100" dirty="0" err="1"/>
              <a:t>_UUID</a:t>
            </a:r>
            <a:r>
              <a:rPr lang="en-US" sz="1100" dirty="0"/>
              <a:t>  |      |  FK </a:t>
            </a:r>
            <a:r>
              <a:rPr lang="en-US" sz="1100" dirty="0" err="1">
                <a:highlight>
                  <a:srgbClr val="FFFF00"/>
                </a:highlight>
              </a:rPr>
              <a:t>observation</a:t>
            </a:r>
            <a:r>
              <a:rPr lang="en-US" sz="1100" dirty="0" err="1"/>
              <a:t>_UUID</a:t>
            </a:r>
            <a:r>
              <a:rPr lang="en-US" sz="1100" dirty="0"/>
              <a:t>         |      |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FK </a:t>
            </a:r>
            <a:r>
              <a:rPr lang="en-US" sz="1100" dirty="0" err="1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contact</a:t>
            </a:r>
            <a:r>
              <a:rPr lang="en-US" sz="1100" dirty="0" err="1">
                <a:solidFill>
                  <a:schemeClr val="accent6">
                    <a:lumMod val="75000"/>
                  </a:schemeClr>
                </a:solidFill>
              </a:rPr>
              <a:t>_UUID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                    </a:t>
            </a:r>
            <a:r>
              <a:rPr lang="en-US" sz="1100" dirty="0"/>
              <a:t>|      |  FK </a:t>
            </a:r>
            <a:r>
              <a:rPr lang="en-US" sz="1100" dirty="0" err="1">
                <a:highlight>
                  <a:srgbClr val="FFFF00"/>
                </a:highlight>
              </a:rPr>
              <a:t>observation</a:t>
            </a:r>
            <a:r>
              <a:rPr lang="en-US" sz="1100" dirty="0" err="1"/>
              <a:t>_UUID</a:t>
            </a:r>
            <a:r>
              <a:rPr lang="en-US" sz="1100" dirty="0"/>
              <a:t> |</a:t>
            </a:r>
          </a:p>
          <a:p>
            <a:pPr marL="0" indent="0">
              <a:buNone/>
            </a:pPr>
            <a:r>
              <a:rPr lang="en-US" sz="1100" dirty="0"/>
              <a:t>+--------------------------------+     |  </a:t>
            </a:r>
            <a:r>
              <a:rPr lang="en-US" sz="1100" dirty="0">
                <a:highlight>
                  <a:srgbClr val="FF0000"/>
                </a:highlight>
              </a:rPr>
              <a:t>FK </a:t>
            </a:r>
            <a:r>
              <a:rPr lang="en-US" sz="1100" dirty="0" err="1">
                <a:highlight>
                  <a:srgbClr val="FF0000"/>
                </a:highlight>
              </a:rPr>
              <a:t>user_ID</a:t>
            </a:r>
            <a:r>
              <a:rPr lang="en-US" sz="1100" dirty="0"/>
              <a:t> → </a:t>
            </a:r>
            <a:r>
              <a:rPr lang="en-US" sz="1100" dirty="0" err="1">
                <a:highlight>
                  <a:srgbClr val="00FFFF"/>
                </a:highlight>
              </a:rPr>
              <a:t>Roles_Gov</a:t>
            </a:r>
            <a:r>
              <a:rPr lang="en-US" sz="1100" dirty="0"/>
              <a:t>   |     +----------------------------------------+     +-------------------------------+</a:t>
            </a:r>
          </a:p>
          <a:p>
            <a:pPr marL="0" indent="0">
              <a:buNone/>
            </a:pPr>
            <a:r>
              <a:rPr lang="en-US" sz="1100" dirty="0"/>
              <a:t>              |                                    +-------------------------------------+                            |</a:t>
            </a:r>
          </a:p>
          <a:p>
            <a:pPr marL="0" indent="0">
              <a:buNone/>
            </a:pPr>
            <a:r>
              <a:rPr lang="en-US" sz="1100" dirty="0"/>
              <a:t>              |                                  	              |                                                     </a:t>
            </a:r>
            <a:r>
              <a:rPr lang="en-US" sz="1100" dirty="0">
                <a:highlight>
                  <a:srgbClr val="FF00FF"/>
                </a:highlight>
              </a:rPr>
              <a:t>1-to-many</a:t>
            </a:r>
          </a:p>
          <a:p>
            <a:pPr marL="0" indent="0">
              <a:buNone/>
            </a:pPr>
            <a:r>
              <a:rPr lang="en-US" sz="1100" dirty="0"/>
              <a:t>              |                                  	              |				    </a:t>
            </a:r>
            <a:r>
              <a:rPr lang="en-US" sz="1100" dirty="0">
                <a:highlight>
                  <a:srgbClr val="FF0000"/>
                </a:highlight>
              </a:rPr>
              <a:t>|</a:t>
            </a:r>
          </a:p>
          <a:p>
            <a:pPr marL="0" indent="0">
              <a:buNone/>
            </a:pPr>
            <a:r>
              <a:rPr lang="en-US" sz="1100" dirty="0"/>
              <a:t>              v 			              v                                                            </a:t>
            </a:r>
            <a:r>
              <a:rPr lang="en-US" sz="1100" dirty="0" err="1">
                <a:highlight>
                  <a:srgbClr val="FF0000"/>
                </a:highlight>
              </a:rPr>
              <a:t>v</a:t>
            </a:r>
            <a:r>
              <a:rPr lang="en-US" sz="1100" dirty="0">
                <a:highlight>
                  <a:srgbClr val="FF0000"/>
                </a:highlight>
              </a:rPr>
              <a:t> for Phase 2 Register/Profile tables?</a:t>
            </a:r>
          </a:p>
          <a:p>
            <a:pPr marL="0" indent="0">
              <a:buNone/>
            </a:pPr>
            <a:r>
              <a:rPr lang="en-US" sz="1100" dirty="0"/>
              <a:t>+---------------------------------+     +-------------------------------------------------------------------+     +-----------------------------------+</a:t>
            </a:r>
          </a:p>
          <a:p>
            <a:pPr marL="0" indent="0">
              <a:buNone/>
            </a:pPr>
            <a:r>
              <a:rPr lang="en-US" sz="1100" dirty="0"/>
              <a:t>|  </a:t>
            </a:r>
            <a:r>
              <a:rPr lang="en-US" sz="1100" b="1" dirty="0" err="1">
                <a:solidFill>
                  <a:schemeClr val="accent4"/>
                </a:solidFill>
              </a:rPr>
              <a:t>pic_metadata_exif</a:t>
            </a:r>
            <a:r>
              <a:rPr lang="en-US" sz="1100" b="1" dirty="0">
                <a:solidFill>
                  <a:schemeClr val="accent4"/>
                </a:solidFill>
              </a:rPr>
              <a:t>        </a:t>
            </a:r>
            <a:r>
              <a:rPr lang="en-US" sz="1100" dirty="0"/>
              <a:t>|     |  </a:t>
            </a:r>
            <a:r>
              <a:rPr lang="en-US" sz="1100" b="1" dirty="0" err="1">
                <a:solidFill>
                  <a:srgbClr val="0070C0"/>
                </a:solidFill>
              </a:rPr>
              <a:t>water_observation</a:t>
            </a:r>
            <a:r>
              <a:rPr lang="en-US" sz="1100" b="1" dirty="0">
                <a:solidFill>
                  <a:srgbClr val="0070C0"/>
                </a:solidFill>
              </a:rPr>
              <a:t>                                                      </a:t>
            </a:r>
            <a:r>
              <a:rPr lang="en-US" sz="1100" dirty="0"/>
              <a:t>|     |  </a:t>
            </a:r>
            <a:r>
              <a:rPr lang="en-US" sz="1100" b="1" dirty="0"/>
              <a:t>location</a:t>
            </a:r>
            <a:r>
              <a:rPr lang="en-US" sz="1100" dirty="0"/>
              <a:t>                               |</a:t>
            </a:r>
          </a:p>
          <a:p>
            <a:pPr marL="0" indent="0">
              <a:buNone/>
            </a:pPr>
            <a:r>
              <a:rPr lang="en-US" sz="1100" dirty="0"/>
              <a:t>|  </a:t>
            </a:r>
            <a:r>
              <a:rPr lang="en-US" sz="1100" dirty="0">
                <a:solidFill>
                  <a:schemeClr val="accent4"/>
                </a:solidFill>
              </a:rPr>
              <a:t>PK </a:t>
            </a:r>
            <a:r>
              <a:rPr lang="en-US" sz="1100" dirty="0">
                <a:solidFill>
                  <a:schemeClr val="accent4"/>
                </a:solidFill>
                <a:highlight>
                  <a:srgbClr val="00FF00"/>
                </a:highlight>
              </a:rPr>
              <a:t>id</a:t>
            </a:r>
            <a:r>
              <a:rPr lang="en-US" sz="1100" dirty="0">
                <a:solidFill>
                  <a:schemeClr val="accent4"/>
                </a:solidFill>
              </a:rPr>
              <a:t> (SERIAL)   </a:t>
            </a:r>
            <a:r>
              <a:rPr lang="en-US" sz="1100" dirty="0"/>
              <a:t>               |     |  </a:t>
            </a:r>
            <a:r>
              <a:rPr lang="en-US" sz="1100" dirty="0">
                <a:solidFill>
                  <a:srgbClr val="0070C0"/>
                </a:solidFill>
              </a:rPr>
              <a:t>PK </a:t>
            </a:r>
            <a:r>
              <a:rPr lang="en-US" sz="1100" dirty="0">
                <a:solidFill>
                  <a:srgbClr val="0070C0"/>
                </a:solidFill>
                <a:highlight>
                  <a:srgbClr val="00FF00"/>
                </a:highlight>
              </a:rPr>
              <a:t>id</a:t>
            </a:r>
            <a:r>
              <a:rPr lang="en-US" sz="1100" dirty="0">
                <a:solidFill>
                  <a:srgbClr val="0070C0"/>
                </a:solidFill>
              </a:rPr>
              <a:t> (UUID)</a:t>
            </a:r>
            <a:r>
              <a:rPr lang="en-US" sz="1100" dirty="0"/>
              <a:t>                                                                  |     |  PK </a:t>
            </a:r>
            <a:r>
              <a:rPr lang="en-US" sz="1100" dirty="0">
                <a:highlight>
                  <a:srgbClr val="00FF00"/>
                </a:highlight>
              </a:rPr>
              <a:t>id</a:t>
            </a:r>
            <a:r>
              <a:rPr lang="en-US" sz="1100" dirty="0"/>
              <a:t> (UUID)                        |</a:t>
            </a:r>
          </a:p>
          <a:p>
            <a:pPr marL="0" indent="0">
              <a:buNone/>
            </a:pPr>
            <a:r>
              <a:rPr lang="en-US" sz="1100" dirty="0"/>
              <a:t>|  </a:t>
            </a:r>
            <a:r>
              <a:rPr lang="en-US" sz="1100" dirty="0">
                <a:solidFill>
                  <a:schemeClr val="accent4"/>
                </a:solidFill>
              </a:rPr>
              <a:t>FK </a:t>
            </a:r>
            <a:r>
              <a:rPr lang="en-US" sz="1100" dirty="0" err="1">
                <a:solidFill>
                  <a:schemeClr val="accent4"/>
                </a:solidFill>
                <a:highlight>
                  <a:srgbClr val="FFFF00"/>
                </a:highlight>
              </a:rPr>
              <a:t>media</a:t>
            </a:r>
            <a:r>
              <a:rPr lang="en-US" sz="1100" dirty="0" err="1">
                <a:solidFill>
                  <a:schemeClr val="accent4"/>
                </a:solidFill>
              </a:rPr>
              <a:t>_id</a:t>
            </a:r>
            <a:r>
              <a:rPr lang="en-US" sz="1100" dirty="0">
                <a:solidFill>
                  <a:schemeClr val="accent4"/>
                </a:solidFill>
              </a:rPr>
              <a:t>                     </a:t>
            </a:r>
            <a:r>
              <a:rPr lang="en-US" sz="1100" dirty="0"/>
              <a:t>|     |  </a:t>
            </a:r>
            <a:r>
              <a:rPr lang="en-US" sz="1100" dirty="0">
                <a:solidFill>
                  <a:srgbClr val="0070C0"/>
                </a:solidFill>
              </a:rPr>
              <a:t>FK </a:t>
            </a:r>
            <a:r>
              <a:rPr lang="en-US" sz="1100" dirty="0" err="1">
                <a:solidFill>
                  <a:srgbClr val="0070C0"/>
                </a:solidFill>
                <a:highlight>
                  <a:srgbClr val="FFFF00"/>
                </a:highlight>
              </a:rPr>
              <a:t>indicator_decompObs</a:t>
            </a:r>
            <a:r>
              <a:rPr lang="en-US" sz="1100" dirty="0" err="1">
                <a:solidFill>
                  <a:srgbClr val="0070C0"/>
                </a:solidFill>
              </a:rPr>
              <a:t>_id</a:t>
            </a:r>
            <a:r>
              <a:rPr lang="en-US" sz="1100" dirty="0">
                <a:solidFill>
                  <a:srgbClr val="0070C0"/>
                </a:solidFill>
              </a:rPr>
              <a:t> </a:t>
            </a:r>
            <a:r>
              <a:rPr lang="en-US" sz="1100" dirty="0"/>
              <a:t>			  |     |  </a:t>
            </a:r>
            <a:r>
              <a:rPr lang="en-US" sz="1100" dirty="0">
                <a:highlight>
                  <a:srgbClr val="FF0000"/>
                </a:highlight>
              </a:rPr>
              <a:t>FK </a:t>
            </a:r>
            <a:r>
              <a:rPr lang="en-US" sz="1100" dirty="0" err="1">
                <a:highlight>
                  <a:srgbClr val="FF0000"/>
                </a:highlight>
              </a:rPr>
              <a:t>user_ID</a:t>
            </a:r>
            <a:r>
              <a:rPr lang="en-US" sz="1100" dirty="0"/>
              <a:t> → </a:t>
            </a:r>
            <a:r>
              <a:rPr lang="en-US" sz="1100" dirty="0" err="1">
                <a:highlight>
                  <a:srgbClr val="00FFFF"/>
                </a:highlight>
              </a:rPr>
              <a:t>Roles_Gov</a:t>
            </a:r>
            <a:r>
              <a:rPr lang="en-US" sz="1100" dirty="0">
                <a:highlight>
                  <a:srgbClr val="00FFFF"/>
                </a:highlight>
              </a:rPr>
              <a:t>  </a:t>
            </a:r>
            <a:r>
              <a:rPr lang="en-US" sz="1100" dirty="0"/>
              <a:t>|</a:t>
            </a:r>
          </a:p>
          <a:p>
            <a:pPr marL="0" indent="0">
              <a:buNone/>
            </a:pPr>
            <a:r>
              <a:rPr lang="en-US" sz="1100" dirty="0"/>
              <a:t>+---------------------------------+     |  </a:t>
            </a:r>
            <a:r>
              <a:rPr lang="en-US" sz="1100" dirty="0" err="1">
                <a:solidFill>
                  <a:srgbClr val="0070C0"/>
                </a:solidFill>
                <a:highlight>
                  <a:srgbClr val="FFFF00"/>
                </a:highlight>
              </a:rPr>
              <a:t>location</a:t>
            </a:r>
            <a:r>
              <a:rPr lang="en-US" sz="1100" dirty="0" err="1">
                <a:solidFill>
                  <a:srgbClr val="0070C0"/>
                </a:solidFill>
              </a:rPr>
              <a:t>_id</a:t>
            </a:r>
            <a:r>
              <a:rPr lang="en-US" sz="1100" dirty="0">
                <a:solidFill>
                  <a:srgbClr val="0070C0"/>
                </a:solidFill>
              </a:rPr>
              <a:t> (UUID, reference only) 		  </a:t>
            </a:r>
            <a:r>
              <a:rPr lang="en-US" sz="1100" dirty="0"/>
              <a:t>|     |  FK </a:t>
            </a:r>
            <a:r>
              <a:rPr lang="en-US" sz="1100" dirty="0" err="1">
                <a:highlight>
                  <a:srgbClr val="FFFF00"/>
                </a:highlight>
              </a:rPr>
              <a:t>observation</a:t>
            </a:r>
            <a:r>
              <a:rPr lang="en-US" sz="1100" dirty="0" err="1"/>
              <a:t>_UUID</a:t>
            </a:r>
            <a:r>
              <a:rPr lang="en-US" sz="1100" dirty="0"/>
              <a:t>        |</a:t>
            </a:r>
          </a:p>
          <a:p>
            <a:pPr marL="0" indent="0">
              <a:buNone/>
            </a:pPr>
            <a:r>
              <a:rPr lang="en-US" sz="1100" dirty="0"/>
              <a:t>                                 	          |  </a:t>
            </a:r>
            <a:r>
              <a:rPr lang="en-US" sz="1100" dirty="0">
                <a:solidFill>
                  <a:srgbClr val="0070C0"/>
                </a:solidFill>
                <a:highlight>
                  <a:srgbClr val="00FF00"/>
                </a:highlight>
              </a:rPr>
              <a:t>INT lookups: species, waterbody, spatial context   </a:t>
            </a:r>
            <a:r>
              <a:rPr lang="en-US" sz="1100" dirty="0"/>
              <a:t>|     +------------------------------------+</a:t>
            </a:r>
          </a:p>
          <a:p>
            <a:pPr marL="0" indent="0">
              <a:buNone/>
            </a:pPr>
            <a:r>
              <a:rPr lang="en-US" sz="1100" dirty="0"/>
              <a:t>                                 	          +--------------------------------------------------------------------+                            |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                          				            reference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                             			                   |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                              				     v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                                   				        </a:t>
            </a:r>
            <a:r>
              <a:rPr lang="en-US" sz="1100" b="1" dirty="0" err="1">
                <a:solidFill>
                  <a:srgbClr val="0070C0"/>
                </a:solidFill>
              </a:rPr>
              <a:t>water</a:t>
            </a:r>
            <a:r>
              <a:rPr lang="en-US" sz="1100" dirty="0" err="1"/>
              <a:t>_observation.location_id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========================================================================================================</a:t>
            </a: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8724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D64C-D0D5-1DAB-C5EC-AABF39C1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1308-4209-36DF-6759-C435E4B5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Structure - Phase 1: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0F28-59B4-C597-E01C-11953BBF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9640"/>
            <a:ext cx="8229600" cy="5196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observations </a:t>
            </a:r>
            <a:r>
              <a:rPr lang="en-US" sz="1600" dirty="0">
                <a:highlight>
                  <a:srgbClr val="FFFF00"/>
                </a:highlight>
              </a:rPr>
              <a:t>(PK id UUID)</a:t>
            </a:r>
          </a:p>
          <a:p>
            <a:pPr marL="0" indent="0">
              <a:buNone/>
            </a:pPr>
            <a:r>
              <a:rPr lang="en-US" sz="1600" dirty="0"/>
              <a:t>       │</a:t>
            </a:r>
          </a:p>
          <a:p>
            <a:pPr marL="0" indent="0">
              <a:buNone/>
            </a:pPr>
            <a:r>
              <a:rPr lang="en-US" sz="1600" dirty="0"/>
              <a:t>       |──────────────► media (FK </a:t>
            </a:r>
            <a:r>
              <a:rPr lang="en-US" sz="1600" dirty="0" err="1">
                <a:highlight>
                  <a:srgbClr val="FFFF00"/>
                </a:highlight>
              </a:rPr>
              <a:t>observation</a:t>
            </a:r>
            <a:r>
              <a:rPr lang="en-US" sz="1600" dirty="0" err="1"/>
              <a:t>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│                     │</a:t>
            </a:r>
          </a:p>
          <a:p>
            <a:pPr marL="0" indent="0">
              <a:buNone/>
            </a:pPr>
            <a:r>
              <a:rPr lang="en-US" sz="1600" dirty="0"/>
              <a:t>       │                     └────────► </a:t>
            </a:r>
            <a:r>
              <a:rPr lang="en-US" sz="1600" dirty="0" err="1"/>
              <a:t>pic_metadata_exif</a:t>
            </a:r>
            <a:r>
              <a:rPr lang="en-US" sz="1600" dirty="0"/>
              <a:t> (FK </a:t>
            </a:r>
            <a:r>
              <a:rPr lang="en-US" sz="1600" dirty="0" err="1"/>
              <a:t>media_</a:t>
            </a:r>
            <a:r>
              <a:rPr lang="en-US" sz="1600" dirty="0" err="1">
                <a:highlight>
                  <a:srgbClr val="00FF00"/>
                </a:highlight>
              </a:rPr>
              <a:t>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│</a:t>
            </a:r>
          </a:p>
          <a:p>
            <a:pPr marL="0" indent="0">
              <a:buNone/>
            </a:pPr>
            <a:r>
              <a:rPr lang="en-US" sz="1600" dirty="0"/>
              <a:t>       |──────────────► </a:t>
            </a:r>
            <a:r>
              <a:rPr lang="en-US" sz="1600" dirty="0" err="1"/>
              <a:t>indicator_decompObs</a:t>
            </a:r>
            <a:r>
              <a:rPr lang="en-US" sz="1600" dirty="0"/>
              <a:t> (FK </a:t>
            </a:r>
            <a:r>
              <a:rPr lang="en-US" sz="1600" dirty="0" err="1">
                <a:highlight>
                  <a:srgbClr val="FFFF00"/>
                </a:highlight>
              </a:rPr>
              <a:t>observation</a:t>
            </a:r>
            <a:r>
              <a:rPr lang="en-US" sz="1600" dirty="0" err="1"/>
              <a:t>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│                     │</a:t>
            </a:r>
          </a:p>
          <a:p>
            <a:pPr marL="0" indent="0">
              <a:buNone/>
            </a:pPr>
            <a:r>
              <a:rPr lang="en-US" sz="1600" dirty="0"/>
              <a:t>       │                     └────────► </a:t>
            </a:r>
            <a:r>
              <a:rPr lang="en-US" sz="1600" dirty="0" err="1"/>
              <a:t>water_observation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       │                                              (FK </a:t>
            </a:r>
            <a:r>
              <a:rPr lang="en-US" sz="1600" dirty="0" err="1"/>
              <a:t>indicator_decompObs_id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│                                              </a:t>
            </a:r>
            <a:r>
              <a:rPr lang="en-US" sz="1600" dirty="0">
                <a:highlight>
                  <a:srgbClr val="00FF00"/>
                </a:highlight>
              </a:rPr>
              <a:t>(INT lookups: species, waterbody, spatial </a:t>
            </a:r>
            <a:r>
              <a:rPr lang="en-US" sz="1600" dirty="0" err="1">
                <a:highlight>
                  <a:srgbClr val="00FF00"/>
                </a:highlight>
              </a:rPr>
              <a:t>ctx</a:t>
            </a:r>
            <a:r>
              <a:rPr lang="en-US" sz="1600" dirty="0">
                <a:highlight>
                  <a:srgbClr val="00FF00"/>
                </a:highlight>
              </a:rPr>
              <a:t>)</a:t>
            </a:r>
          </a:p>
          <a:p>
            <a:pPr marL="0" indent="0">
              <a:buNone/>
            </a:pPr>
            <a:r>
              <a:rPr lang="en-US" sz="1600" dirty="0"/>
              <a:t>       │</a:t>
            </a:r>
          </a:p>
          <a:p>
            <a:pPr marL="0" indent="0">
              <a:buNone/>
            </a:pPr>
            <a:r>
              <a:rPr lang="en-US" sz="1600" dirty="0"/>
              <a:t>       |──────────────► </a:t>
            </a:r>
            <a:r>
              <a:rPr lang="en-US" sz="1600" dirty="0" err="1"/>
              <a:t>contact_form_submissions</a:t>
            </a:r>
            <a:r>
              <a:rPr lang="en-US" sz="1600" dirty="0"/>
              <a:t> (FK </a:t>
            </a:r>
            <a:r>
              <a:rPr lang="en-US" sz="1600" dirty="0" err="1"/>
              <a:t>contact_UUID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│</a:t>
            </a:r>
          </a:p>
          <a:p>
            <a:pPr marL="0" indent="0">
              <a:buNone/>
            </a:pPr>
            <a:r>
              <a:rPr lang="en-US" sz="1600" dirty="0"/>
              <a:t>       └──────────────► </a:t>
            </a:r>
            <a:r>
              <a:rPr lang="en-US" sz="1600" dirty="0" err="1">
                <a:highlight>
                  <a:srgbClr val="FF0000"/>
                </a:highlight>
              </a:rPr>
              <a:t>Roles_Governance</a:t>
            </a:r>
            <a:r>
              <a:rPr lang="en-US" sz="1600" dirty="0">
                <a:highlight>
                  <a:srgbClr val="FF0000"/>
                </a:highlight>
              </a:rPr>
              <a:t> (FK </a:t>
            </a:r>
            <a:r>
              <a:rPr lang="en-US" sz="1600" dirty="0" err="1">
                <a:highlight>
                  <a:srgbClr val="FF0000"/>
                </a:highlight>
              </a:rPr>
              <a:t>observation</a:t>
            </a:r>
            <a:r>
              <a:rPr lang="en-US" sz="1600" dirty="0" err="1"/>
              <a:t>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                      │</a:t>
            </a:r>
          </a:p>
          <a:p>
            <a:pPr marL="0" indent="0">
              <a:buNone/>
            </a:pPr>
            <a:r>
              <a:rPr lang="en-US" sz="1600" dirty="0"/>
              <a:t>                              └────────► location 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(FK </a:t>
            </a:r>
            <a:r>
              <a:rPr lang="en-US" sz="1600" dirty="0" err="1">
                <a:highlight>
                  <a:srgbClr val="FF0000"/>
                </a:highlight>
              </a:rPr>
              <a:t>user_ID</a:t>
            </a:r>
            <a:r>
              <a:rPr lang="en-US" sz="1600" dirty="0"/>
              <a:t>, FK </a:t>
            </a:r>
            <a:r>
              <a:rPr lang="en-US" sz="1600" dirty="0" err="1">
                <a:highlight>
                  <a:srgbClr val="FFFF00"/>
                </a:highlight>
              </a:rPr>
              <a:t>observation</a:t>
            </a:r>
            <a:r>
              <a:rPr lang="en-US" sz="1600" dirty="0" err="1"/>
              <a:t>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</a:t>
            </a:r>
            <a:r>
              <a:rPr lang="en-US" sz="1600" dirty="0">
                <a:highlight>
                  <a:srgbClr val="00FF00"/>
                </a:highlight>
              </a:rPr>
              <a:t>referenced by </a:t>
            </a:r>
            <a:r>
              <a:rPr lang="en-US" sz="1600" dirty="0" err="1">
                <a:highlight>
                  <a:srgbClr val="00FF00"/>
                </a:highlight>
              </a:rPr>
              <a:t>water_observation.location_id</a:t>
            </a:r>
            <a:r>
              <a:rPr lang="en-US" sz="1600" dirty="0">
                <a:highlight>
                  <a:srgbClr val="00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73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3102"/>
          </a:xfrm>
        </p:spPr>
        <p:txBody>
          <a:bodyPr>
            <a:normAutofit fontScale="90000"/>
          </a:bodyPr>
          <a:lstStyle/>
          <a:p>
            <a:r>
              <a:rPr dirty="0"/>
              <a:t>Database Structure</a:t>
            </a:r>
            <a:r>
              <a:rPr lang="en-US" dirty="0"/>
              <a:t> - Phase 1: List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observations (PK UUID)</a:t>
            </a:r>
          </a:p>
          <a:p>
            <a:r>
              <a:t>→ media (FK observation_UUID)</a:t>
            </a:r>
          </a:p>
          <a:p>
            <a:r>
              <a:t>→ pic_metadata_exif (PK SERIAL)</a:t>
            </a:r>
          </a:p>
          <a:p>
            <a:r>
              <a:t>→ indicator_decompObs (PK UUID)</a:t>
            </a:r>
          </a:p>
          <a:p>
            <a:r>
              <a:t>→ location (PK UUID)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862"/>
          </a:xfrm>
        </p:spPr>
        <p:txBody>
          <a:bodyPr>
            <a:normAutofit fontScale="90000"/>
          </a:bodyPr>
          <a:lstStyle/>
          <a:p>
            <a:r>
              <a:rPr dirty="0"/>
              <a:t>Water Observation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water_observation (PK UUID)</a:t>
            </a:r>
          </a:p>
          <a:p>
            <a:r>
              <a:t>FK → location (UUID)</a:t>
            </a:r>
          </a:p>
          <a:p>
            <a:r>
              <a:t>FK → indicator_decompObs (UUID)</a:t>
            </a:r>
          </a:p>
          <a:p>
            <a:r>
              <a:t>INT lookup keys: species, waterbody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07E9-1A4B-DABF-5736-1A694886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Structure - Phase 1: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0D94E-C9C5-740E-A81B-E67E945A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9640"/>
            <a:ext cx="8229600" cy="51965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</a:t>
            </a:r>
            <a:r>
              <a:rPr lang="en-US" sz="1600" b="1" dirty="0"/>
              <a:t>observations</a:t>
            </a:r>
          </a:p>
          <a:p>
            <a:pPr marL="0" indent="0">
              <a:buNone/>
            </a:pPr>
            <a:r>
              <a:rPr lang="en-US" sz="1600" dirty="0"/>
              <a:t>                                   PK id (UUID, </a:t>
            </a:r>
            <a:r>
              <a:rPr lang="en-US" sz="1600" dirty="0" err="1"/>
              <a:t>observation_UUID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600" dirty="0"/>
              <a:t>        │                               │                                   │</a:t>
            </a:r>
          </a:p>
          <a:p>
            <a:pPr marL="0" indent="0">
              <a:buNone/>
            </a:pPr>
            <a:r>
              <a:rPr lang="en-US" sz="1600" dirty="0"/>
              <a:t>        │                               │                                   │</a:t>
            </a:r>
          </a:p>
          <a:p>
            <a:pPr marL="0" indent="0">
              <a:buNone/>
            </a:pPr>
            <a:r>
              <a:rPr lang="en-US" sz="1600" dirty="0"/>
              <a:t>        ▼                               ▼                                   ▼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┌────────────────────────────┐   ┌────────────────────────────┐   ┌─────────────────────────┐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600" dirty="0"/>
              <a:t>│   </a:t>
            </a:r>
            <a:r>
              <a:rPr lang="en-US" sz="1600" b="1" dirty="0"/>
              <a:t>media</a:t>
            </a:r>
            <a:r>
              <a:rPr lang="en-US" sz="1600" dirty="0"/>
              <a:t>                                               │   │   </a:t>
            </a:r>
            <a:r>
              <a:rPr lang="en-US" sz="1600" b="1" dirty="0" err="1"/>
              <a:t>indicator_decompObs</a:t>
            </a:r>
            <a:r>
              <a:rPr lang="en-US" sz="1600" b="1" dirty="0"/>
              <a:t>                 </a:t>
            </a:r>
            <a:r>
              <a:rPr lang="en-US" sz="1600" dirty="0"/>
              <a:t>│    │  </a:t>
            </a:r>
            <a:r>
              <a:rPr lang="en-US" sz="1600" b="1" dirty="0" err="1"/>
              <a:t>contact_form_submissions</a:t>
            </a:r>
            <a:r>
              <a:rPr lang="en-US" sz="1600" dirty="0"/>
              <a:t>    │</a:t>
            </a:r>
          </a:p>
          <a:p>
            <a:pPr marL="0" indent="0">
              <a:buNone/>
            </a:pPr>
            <a:r>
              <a:rPr lang="en-US" sz="1600" dirty="0"/>
              <a:t>│   PK id (UUID)                                    │   │   PK id (UUID)                                   │    │   PK id (UUID)               	          │</a:t>
            </a:r>
          </a:p>
          <a:p>
            <a:pPr marL="0" indent="0">
              <a:buNone/>
            </a:pPr>
            <a:r>
              <a:rPr lang="en-US" sz="1600" dirty="0"/>
              <a:t>│   FK </a:t>
            </a:r>
            <a:r>
              <a:rPr lang="en-US" sz="1600" dirty="0" err="1"/>
              <a:t>observation_UUID</a:t>
            </a:r>
            <a:r>
              <a:rPr lang="en-US" sz="1600" dirty="0"/>
              <a:t>         │   │   FK </a:t>
            </a:r>
            <a:r>
              <a:rPr lang="en-US" sz="1600" dirty="0" err="1"/>
              <a:t>observation_UUID</a:t>
            </a:r>
            <a:r>
              <a:rPr lang="en-US" sz="1600" dirty="0"/>
              <a:t>        │    │   FK </a:t>
            </a:r>
            <a:r>
              <a:rPr lang="en-US" sz="1600" dirty="0" err="1"/>
              <a:t>contact_UUID</a:t>
            </a:r>
            <a:r>
              <a:rPr lang="en-US" sz="1600" dirty="0"/>
              <a:t>          │</a:t>
            </a:r>
          </a:p>
          <a:p>
            <a:pPr marL="0" indent="0">
              <a:buNone/>
            </a:pPr>
            <a:r>
              <a:rPr lang="en-US" sz="1600" dirty="0"/>
              <a:t>└──────────────┬────────────┘   │   FK </a:t>
            </a:r>
            <a:r>
              <a:rPr lang="en-US" sz="1600" dirty="0" err="1"/>
              <a:t>user_ID</a:t>
            </a:r>
            <a:r>
              <a:rPr lang="en-US" sz="1600" dirty="0"/>
              <a:t> → </a:t>
            </a:r>
            <a:r>
              <a:rPr lang="en-US" sz="1600" dirty="0" err="1"/>
              <a:t>Roles_Gov</a:t>
            </a:r>
            <a:r>
              <a:rPr lang="en-US" sz="1600" dirty="0"/>
              <a:t>             │    └─────────────────────────┘</a:t>
            </a:r>
          </a:p>
          <a:p>
            <a:pPr marL="0" indent="0">
              <a:buNone/>
            </a:pPr>
            <a:r>
              <a:rPr lang="en-US" sz="1600" dirty="0"/>
              <a:t>               │                                                   └──────────────┬────────────┘</a:t>
            </a:r>
          </a:p>
          <a:p>
            <a:pPr marL="0" indent="0">
              <a:buNone/>
            </a:pPr>
            <a:r>
              <a:rPr lang="en-US" sz="1600" dirty="0"/>
              <a:t>               │                                                                                     │</a:t>
            </a:r>
          </a:p>
          <a:p>
            <a:pPr marL="0" indent="0">
              <a:buNone/>
            </a:pPr>
            <a:r>
              <a:rPr lang="en-US" sz="1600" dirty="0"/>
              <a:t>               ▼                                                                                  ▼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┌────────────────────────────┐   ┌────────────────────────────────────────────────┐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US" sz="1600" dirty="0"/>
              <a:t>│   </a:t>
            </a:r>
            <a:r>
              <a:rPr lang="en-US" sz="1600" b="1" dirty="0" err="1"/>
              <a:t>pic_metadata_exif</a:t>
            </a:r>
            <a:r>
              <a:rPr lang="en-US" sz="1600" b="1" dirty="0"/>
              <a:t>                        </a:t>
            </a:r>
            <a:r>
              <a:rPr lang="en-US" sz="1600" dirty="0"/>
              <a:t>│   │  </a:t>
            </a:r>
            <a:r>
              <a:rPr lang="en-US" sz="1600" b="1" dirty="0" err="1"/>
              <a:t>water_observation</a:t>
            </a:r>
            <a:r>
              <a:rPr lang="en-US" sz="1600" b="1" dirty="0"/>
              <a:t>                                                                    </a:t>
            </a:r>
            <a:r>
              <a:rPr lang="en-US" sz="1600" dirty="0"/>
              <a:t>│</a:t>
            </a:r>
          </a:p>
          <a:p>
            <a:pPr marL="0" indent="0">
              <a:buNone/>
            </a:pPr>
            <a:r>
              <a:rPr lang="en-US" sz="1600" dirty="0"/>
              <a:t>│   PK id (SERIAL)                                 │   │   PK id (UUID)                                                                                │</a:t>
            </a:r>
          </a:p>
          <a:p>
            <a:pPr marL="0" indent="0">
              <a:buNone/>
            </a:pPr>
            <a:r>
              <a:rPr lang="en-US" sz="1600" dirty="0"/>
              <a:t>│   FK </a:t>
            </a:r>
            <a:r>
              <a:rPr lang="en-US" sz="1600" dirty="0" err="1"/>
              <a:t>media_id</a:t>
            </a:r>
            <a:r>
              <a:rPr lang="en-US" sz="1600" dirty="0"/>
              <a:t> → media                   │   │   FK </a:t>
            </a:r>
            <a:r>
              <a:rPr lang="en-US" sz="1600" dirty="0" err="1"/>
              <a:t>indicator_decompObs_id</a:t>
            </a:r>
            <a:r>
              <a:rPr lang="en-US" sz="1600" dirty="0"/>
              <a:t> → </a:t>
            </a:r>
            <a:r>
              <a:rPr lang="en-US" sz="1600" dirty="0" err="1"/>
              <a:t>indicator_decompObs</a:t>
            </a:r>
            <a:r>
              <a:rPr lang="en-US" sz="1600" dirty="0"/>
              <a:t>       │</a:t>
            </a:r>
          </a:p>
          <a:p>
            <a:pPr marL="0" indent="0">
              <a:buNone/>
            </a:pPr>
            <a:r>
              <a:rPr lang="en-US" sz="1600" dirty="0"/>
              <a:t>└────────────────────────────┘   │   </a:t>
            </a:r>
            <a:r>
              <a:rPr lang="en-US" sz="1600" dirty="0" err="1"/>
              <a:t>location_id</a:t>
            </a:r>
            <a:r>
              <a:rPr lang="en-US" sz="1600" dirty="0"/>
              <a:t> (UUID, reference only)                                         │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             │   INT lookups: species, waterbody, spatial context                 │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             └────────────────────────────────────────────────┘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4C8AA5-79D7-1BA0-75BB-DDBB7211A2E3}"/>
              </a:ext>
            </a:extLst>
          </p:cNvPr>
          <p:cNvSpPr txBox="1">
            <a:spLocks/>
          </p:cNvSpPr>
          <p:nvPr/>
        </p:nvSpPr>
        <p:spPr>
          <a:xfrm>
            <a:off x="6207369" y="930812"/>
            <a:ext cx="3991708" cy="51965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600" dirty="0"/>
              <a:t>────────────────────────────────────────────────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</a:t>
            </a:r>
            <a:r>
              <a:rPr lang="en-US" sz="1600" b="1" u="sng" dirty="0"/>
              <a:t>observations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PK id (UUID, </a:t>
            </a:r>
            <a:r>
              <a:rPr lang="en-US" sz="1600" dirty="0" err="1"/>
              <a:t>observation_UUID</a:t>
            </a:r>
            <a:r>
              <a:rPr lang="en-US" sz="1600" dirty="0"/>
              <a:t>)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────────────────────────────────────────────────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▼</a:t>
            </a:r>
          </a:p>
          <a:p>
            <a:pPr marL="0" indent="0">
              <a:buFont typeface="Arial"/>
              <a:buNone/>
            </a:pPr>
            <a:endParaRPr lang="en-US" sz="1600" dirty="0"/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┌──────────────────────────┐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</a:t>
            </a:r>
            <a:r>
              <a:rPr lang="en-US" sz="1600" b="1" dirty="0" err="1"/>
              <a:t>Roles_Governance</a:t>
            </a:r>
            <a:r>
              <a:rPr lang="en-US" sz="1600" dirty="0"/>
              <a:t>   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PK id (UUID)               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FK </a:t>
            </a:r>
            <a:r>
              <a:rPr lang="en-US" sz="1600" dirty="0" err="1"/>
              <a:t>observation_UUID</a:t>
            </a:r>
            <a:r>
              <a:rPr lang="en-US" sz="1600" dirty="0"/>
              <a:t>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└──────────────┬──────────┘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  ▼</a:t>
            </a:r>
          </a:p>
          <a:p>
            <a:pPr marL="0" indent="0">
              <a:buFont typeface="Arial"/>
              <a:buNone/>
            </a:pPr>
            <a:endParaRPr lang="en-US" sz="1600" dirty="0"/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┌──────────────────────────────┐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</a:t>
            </a:r>
            <a:r>
              <a:rPr lang="en-US" sz="1600" b="1" dirty="0"/>
              <a:t>location</a:t>
            </a:r>
            <a:r>
              <a:rPr lang="en-US" sz="1600" dirty="0"/>
              <a:t>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PK id (UUID)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FK </a:t>
            </a:r>
            <a:r>
              <a:rPr lang="en-US" sz="1600" dirty="0" err="1"/>
              <a:t>user_ID</a:t>
            </a:r>
            <a:r>
              <a:rPr lang="en-US" sz="1600" dirty="0"/>
              <a:t> → </a:t>
            </a:r>
            <a:r>
              <a:rPr lang="en-US" sz="1600" dirty="0" err="1"/>
              <a:t>Roles_Gov</a:t>
            </a:r>
            <a:r>
              <a:rPr lang="en-US" sz="1600" dirty="0"/>
              <a:t>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│   FK </a:t>
            </a:r>
            <a:r>
              <a:rPr lang="en-US" sz="1600" dirty="0" err="1"/>
              <a:t>observation_UUID</a:t>
            </a:r>
            <a:r>
              <a:rPr lang="en-US" sz="1600" dirty="0"/>
              <a:t>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└──────────────┬───────────────┘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  │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               ▼</a:t>
            </a:r>
          </a:p>
          <a:p>
            <a:pPr marL="0" indent="0">
              <a:buFont typeface="Arial"/>
              <a:buNone/>
            </a:pPr>
            <a:endParaRPr lang="en-US" sz="1600" dirty="0"/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</a:t>
            </a:r>
            <a:r>
              <a:rPr lang="en-US" sz="1600" dirty="0" err="1"/>
              <a:t>water_observation.location_id</a:t>
            </a:r>
            <a:endParaRPr lang="en-US" sz="1600" dirty="0"/>
          </a:p>
          <a:p>
            <a:pPr marL="0" indent="0">
              <a:buFont typeface="Arial"/>
              <a:buNone/>
            </a:pPr>
            <a:r>
              <a:rPr lang="en-US" sz="1600" dirty="0"/>
              <a:t>                               (reference, not FK in schema)</a:t>
            </a:r>
          </a:p>
          <a:p>
            <a:pPr marL="0" indent="0">
              <a:buFont typeface="Arial"/>
              <a:buNone/>
            </a:pP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797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979</Words>
  <Application>Microsoft Office PowerPoint</Application>
  <PresentationFormat>On-screen Show (4:3)</PresentationFormat>
  <Paragraphs>123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Database Structure - Phase 1: Diagram</vt:lpstr>
      <vt:lpstr>Database Structure - Phase 1: Diagram</vt:lpstr>
      <vt:lpstr>Database Structure - Phase 1: List</vt:lpstr>
      <vt:lpstr>Water Observation Relationships</vt:lpstr>
      <vt:lpstr>Database Structure - Phase 1: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Meghan Carr</dc:creator>
  <cp:keywords/>
  <dc:description>generated using python-pptx</dc:description>
  <cp:lastModifiedBy>Meghan Carr</cp:lastModifiedBy>
  <cp:revision>4</cp:revision>
  <dcterms:created xsi:type="dcterms:W3CDTF">2013-01-27T09:14:16Z</dcterms:created>
  <dcterms:modified xsi:type="dcterms:W3CDTF">2026-01-30T20:07:27Z</dcterms:modified>
  <cp:category/>
</cp:coreProperties>
</file>